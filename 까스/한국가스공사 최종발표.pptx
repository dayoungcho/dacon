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73" r:id="rId5"/>
    <p:sldId id="282" r:id="rId6"/>
    <p:sldId id="281" r:id="rId7"/>
    <p:sldId id="279" r:id="rId8"/>
    <p:sldId id="276" r:id="rId9"/>
    <p:sldId id="299" r:id="rId10"/>
    <p:sldId id="304" r:id="rId11"/>
    <p:sldId id="286" r:id="rId12"/>
    <p:sldId id="31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나해 김" initials="나김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TxStyle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7241" autoAdjust="0"/>
    <p:restoredTop sz="94681" autoAdjust="0"/>
  </p:normalViewPr>
  <p:slideViewPr>
    <p:cSldViewPr snapToGrid="0">
      <p:cViewPr varScale="1">
        <p:scale>
          <a:sx n="100" d="100"/>
          <a:sy n="100" d="100"/>
        </p:scale>
        <p:origin x="90" y="888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42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commentAuthors" Target="commentAuthors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35B26C6-C940-4325-AD5B-76C0CDFFFD5B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8173EBF-C02F-4260-A1BC-6D8DEDBBAF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417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6378A279-EF8D-499E-A0D8-D775CD15B34F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5DB8C9DE-2D23-427C-B6F3-AF74BD602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509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사진이 너무 흐림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8C9DE-2D23-427C-B6F3-AF74BD6026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159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8C9DE-2D23-427C-B6F3-AF74BD6026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49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8C9DE-2D23-427C-B6F3-AF74BD6026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70734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C397D-E126-19D3-8A39-E1F0AB27F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475313-88E9-B652-2C50-5A6783264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C8C7A-A257-7B9F-4EB6-5E534FAD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B5AF-39C6-4E2A-80D8-9C9643CDF181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4D30E-7A4B-5115-F7A9-DB0CA900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9FA8F2-E615-BA2C-D278-7E424604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528" y="6362234"/>
            <a:ext cx="498446" cy="365125"/>
          </a:xfrm>
        </p:spPr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785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FF256-077E-A933-DB12-473599AC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2E6E1-66B7-3F80-1BE9-482F0738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8A188-D45B-AACE-A868-5C8AC3BC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210F-B155-4E59-A672-2B939FA879AA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D2E8A-0732-EBFC-84FA-382583E3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37488-4D66-7EF3-DEB9-A422F644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87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913F2-75DD-05BA-8028-9A648689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29643E-74B9-9F24-BE0A-29F8430F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BE39C-4255-17D3-FADC-E84FBA16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0D22-105F-4582-A29C-2051AB72192D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92016-3E25-10F9-EE99-5FAFAF07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A0B272-AC2C-1D9F-5583-83F4001E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62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52E68-6C6F-9D9A-D450-902E4D3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3086D-4AFC-6331-7DE8-C3BDACA59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F8F20F-6CC9-78E2-91CB-DA60F61D6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E36E0F-C83D-224E-6FFA-253903C1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FDEF6-9154-4EA1-8BB7-DD896B315555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EFA0C0-AF22-3096-2273-F7A0BE5DC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24505F-ED48-48BB-C15F-19680FE4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99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04E14-BDD7-3830-E1B7-3B8384C4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D96FF-FE98-4846-8FE1-BDD031F0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7ECF96-C291-2FA2-7A73-A0625FD41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2EC558-6D4A-6BF5-6C67-4307FCF2A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185191-80DA-FBCB-8F0B-F1628139F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DA9CAA-CF55-C6DA-4E43-0D1F492B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1CF9-9D64-4AEE-B9A9-89142305C0C9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93EA4E-73E0-F6BF-77CF-A8DEAEDA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6A4A52-AB3D-8A0C-E471-DF23B139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8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AC89E-3458-5127-2281-11424068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C4F5F4-5D3D-1FA9-1706-8362F113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F92C-A000-4F62-879E-C1970F87608B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85C99C-B2D1-9CA1-6099-552685DF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FEC028-9EC2-3507-3E80-82226046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407F0E-5B9B-F55B-C571-9999F2B3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AC64-BE00-469C-9416-C6F12FBF581E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970584-EE08-B614-9E6A-AFCA70A1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6809A-B58F-BE43-8F73-5E2CF50D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09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15DFA-BBBF-87FA-9E33-BA45A684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2083D-46E4-FABB-2E90-C98CBA735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557ED4-2F4B-74F8-6BE9-2C5DE2288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6D5F97-5CCD-9501-FA7F-74733076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8DE2-B2ED-4647-AEBF-AF16491DFC51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946E54-E047-4A72-F56A-7FD9971C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F344A-E405-D349-5403-4A032E70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CED7C-C5C5-9F15-B0E5-7999B5DE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338C09-FE3D-E4DE-E682-0E92B3AFA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C0429D-6929-AD97-577B-8EFB2F41B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4E33FB-F297-237C-E685-06EFEC88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BDB91-7CA4-4480-B7F0-56DD5BDE1055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5ED5C-3786-335D-CC6A-2756CEA0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964CC-B367-EE02-9D10-1DD97E2F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53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DAAFF-A326-14B5-D15C-D4A552C3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8058B-E693-C728-3A3B-E43EFDC30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2C375-4C5C-B1CC-9485-2BA6D92F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6AE1-5287-4E16-88BB-03A9EE4FC7C8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F02C1-0585-9A38-2E77-1CF78D2F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29925A-6C77-E6BD-94D8-B9429974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64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5B9502-2033-FE64-7780-B5252AC91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E0FEE3-1265-DB0B-C7CA-600DBDFDA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028C1-D1CF-22A8-2B3C-BC910BD7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3A8C-3561-4806-A914-46BF663EBC6E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C41E7-AEAD-C8DE-78CA-B3813442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DBBF6-D776-C0DD-69AC-7FF37E60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26885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552539-5901-ECE7-3E8C-A32D8FE8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08DFE-79B4-FC37-1E70-5D0806FB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00BCE-9828-7662-B0FA-2D5734D1A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700CD-3A10-43BE-8505-F6E491FAC648}" type="datetime1">
              <a:rPr lang="ko-KR" altLang="en-US" smtClean="0"/>
              <a:t>2023-11-22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2F4DB9-C872-5A8F-F7CB-383B38F3B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842D4-6273-15CE-EE41-50554FD0E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38FED-E9E2-4A0F-8C84-1DF9B67633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34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Relationship Id="rId4" Type="http://schemas.openxmlformats.org/officeDocument/2006/relationships/image" Target="../media/image3.png"  /><Relationship Id="rId5" Type="http://schemas.openxmlformats.org/officeDocument/2006/relationships/image" Target="../media/image4.sv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833610" y="4200705"/>
            <a:ext cx="1840230" cy="300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1600" b="1">
                <a:latin typeface="+mj-ea"/>
                <a:ea typeface="+mj-ea"/>
              </a:rPr>
              <a:t>40</a:t>
            </a:r>
            <a:r>
              <a:rPr lang="ko-KR" altLang="en-US" sz="1600" b="1">
                <a:latin typeface="+mj-ea"/>
                <a:ea typeface="+mj-ea"/>
              </a:rPr>
              <a:t>조 </a:t>
            </a:r>
            <a:r>
              <a:rPr lang="en-US" altLang="ko-KR" sz="1600" b="1">
                <a:latin typeface="+mj-ea"/>
                <a:ea typeface="+mj-ea"/>
              </a:rPr>
              <a:t>(GA!S)</a:t>
            </a:r>
            <a:endParaRPr lang="en-US" altLang="ko-KR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600" b="1">
                <a:latin typeface="+mj-ea"/>
                <a:ea typeface="+mj-ea"/>
              </a:rPr>
              <a:t>90043169 </a:t>
            </a:r>
            <a:r>
              <a:rPr lang="ko-KR" altLang="en-US" sz="1600" b="1">
                <a:latin typeface="+mj-ea"/>
                <a:ea typeface="+mj-ea"/>
              </a:rPr>
              <a:t>강혜성</a:t>
            </a:r>
            <a:endParaRPr lang="ko-KR" altLang="en-US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600" b="1">
                <a:latin typeface="+mj-ea"/>
                <a:ea typeface="+mj-ea"/>
              </a:rPr>
              <a:t>90043179</a:t>
            </a:r>
            <a:r>
              <a:rPr lang="ko-KR" altLang="en-US" sz="1600" b="1">
                <a:latin typeface="+mj-ea"/>
                <a:ea typeface="+mj-ea"/>
              </a:rPr>
              <a:t> 김상현</a:t>
            </a:r>
            <a:endParaRPr lang="ko-KR" altLang="en-US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en-US" altLang="ko-KR" sz="1600" b="1">
                <a:latin typeface="+mj-ea"/>
                <a:ea typeface="+mj-ea"/>
              </a:rPr>
              <a:t>90043274</a:t>
            </a:r>
            <a:r>
              <a:rPr lang="ko-KR" altLang="en-US" sz="1600" b="1">
                <a:latin typeface="+mj-ea"/>
                <a:ea typeface="+mj-ea"/>
              </a:rPr>
              <a:t> 조다영</a:t>
            </a:r>
            <a:endParaRPr lang="ko-KR" altLang="en-US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endParaRPr lang="ko-KR" altLang="en-US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endParaRPr lang="en-US" altLang="ko-KR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endParaRPr lang="ko-KR" altLang="en-US" sz="1600" b="1">
              <a:latin typeface="+mj-ea"/>
              <a:ea typeface="+mj-ea"/>
            </a:endParaRPr>
          </a:p>
          <a:p>
            <a:pPr lvl="0" algn="ctr">
              <a:lnSpc>
                <a:spcPct val="150000"/>
              </a:lnSpc>
              <a:defRPr/>
            </a:pPr>
            <a:endParaRPr lang="en-US" altLang="ko-KR" sz="1600" b="1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9884" y="2059349"/>
            <a:ext cx="7050405" cy="700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4000" b="1">
                <a:latin typeface="+mj-ea"/>
                <a:ea typeface="+mj-ea"/>
              </a:rPr>
              <a:t>AI</a:t>
            </a:r>
            <a:r>
              <a:rPr lang="ko-KR" altLang="en-US" sz="4000" b="1">
                <a:latin typeface="+mj-ea"/>
                <a:ea typeface="+mj-ea"/>
              </a:rPr>
              <a:t> 시대의 </a:t>
            </a:r>
            <a:r>
              <a:rPr lang="en-US" altLang="ko-KR" sz="4000" b="1">
                <a:latin typeface="+mj-ea"/>
                <a:ea typeface="+mj-ea"/>
              </a:rPr>
              <a:t>LNG </a:t>
            </a:r>
            <a:r>
              <a:rPr lang="ko-KR" altLang="en-US" sz="4000" b="1">
                <a:latin typeface="+mj-ea"/>
                <a:ea typeface="+mj-ea"/>
              </a:rPr>
              <a:t>수급관리 전략</a:t>
            </a:r>
            <a:endParaRPr lang="ko-KR" altLang="en-US" sz="4000" b="1">
              <a:latin typeface="+mj-ea"/>
              <a:ea typeface="+mj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1668" y="194736"/>
            <a:ext cx="28801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b="1"/>
              <a:t>2025</a:t>
            </a:r>
            <a:r>
              <a:rPr lang="ko-KR" altLang="en-US" sz="1200" b="1"/>
              <a:t> 체험형 인턴 최종업무 발표</a:t>
            </a:r>
            <a:r>
              <a:rPr lang="en-US" altLang="ko-KR" sz="1200" b="1"/>
              <a:t>_GA!S</a:t>
            </a:r>
            <a:endParaRPr lang="en-US" altLang="ko-KR" sz="1200" b="1"/>
          </a:p>
        </p:txBody>
      </p:sp>
      <p:sp>
        <p:nvSpPr>
          <p:cNvPr id="3" name="TextBox 2"/>
          <p:cNvSpPr txBox="1"/>
          <p:nvPr/>
        </p:nvSpPr>
        <p:spPr>
          <a:xfrm>
            <a:off x="1596039" y="1551517"/>
            <a:ext cx="581376" cy="9992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000" b="1">
                <a:solidFill>
                  <a:srgbClr val="3057b9"/>
                </a:solidFill>
              </a:rPr>
              <a:t>“</a:t>
            </a:r>
            <a:endParaRPr lang="ko-KR" altLang="en-US" sz="6000" b="1">
              <a:solidFill>
                <a:srgbClr val="3057b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22509" y="3126308"/>
            <a:ext cx="579805" cy="10056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000" b="1">
                <a:solidFill>
                  <a:srgbClr val="3057b9"/>
                </a:solidFill>
              </a:rPr>
              <a:t>“</a:t>
            </a:r>
            <a:endParaRPr lang="ko-KR" altLang="en-US" sz="6000" b="1">
              <a:solidFill>
                <a:srgbClr val="3057b9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46B02-C0CF-1A03-8A60-89B34BAE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0925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 rot="0">
            <a:off x="1406104" y="2697895"/>
            <a:ext cx="3285911" cy="400110"/>
            <a:chOff x="1202264" y="901005"/>
            <a:chExt cx="3285911" cy="400110"/>
          </a:xfrm>
        </p:grpSpPr>
        <p:sp>
          <p:nvSpPr>
            <p:cNvPr id="29" name="타원 28"/>
            <p:cNvSpPr>
              <a:spLocks noChangeAspect="1"/>
            </p:cNvSpPr>
            <p:nvPr/>
          </p:nvSpPr>
          <p:spPr>
            <a:xfrm flipH="1">
              <a:off x="1202264" y="915715"/>
              <a:ext cx="360000" cy="3600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676400" y="901005"/>
              <a:ext cx="281177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Part 3. LNG</a:t>
              </a:r>
              <a:r>
                <a:rPr lang="ko-KR" altLang="en-US" sz="2000" b="1"/>
                <a:t> 수요 예측</a:t>
              </a:r>
              <a:endParaRPr lang="ko-KR" altLang="en-US" sz="2000" b="1"/>
            </a:p>
          </p:txBody>
        </p:sp>
      </p:grpSp>
      <p:grpSp>
        <p:nvGrpSpPr>
          <p:cNvPr id="31" name="그룹 30"/>
          <p:cNvGrpSpPr/>
          <p:nvPr/>
        </p:nvGrpSpPr>
        <p:grpSpPr>
          <a:xfrm rot="0">
            <a:off x="1406104" y="3921361"/>
            <a:ext cx="2085761" cy="400110"/>
            <a:chOff x="1202264" y="901005"/>
            <a:chExt cx="2085761" cy="400110"/>
          </a:xfrm>
        </p:grpSpPr>
        <p:sp>
          <p:nvSpPr>
            <p:cNvPr id="32" name="타원 31"/>
            <p:cNvSpPr>
              <a:spLocks noChangeAspect="1"/>
            </p:cNvSpPr>
            <p:nvPr/>
          </p:nvSpPr>
          <p:spPr>
            <a:xfrm flipH="1">
              <a:off x="1202264" y="915715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76400" y="901005"/>
              <a:ext cx="161162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Part 5. </a:t>
              </a:r>
              <a:r>
                <a:rPr lang="ko-KR" altLang="en-US" sz="2000" b="1"/>
                <a:t>결론</a:t>
              </a:r>
              <a:endParaRPr lang="ko-KR" altLang="en-US" sz="2000" b="1"/>
            </a:p>
          </p:txBody>
        </p:sp>
      </p:grpSp>
      <p:grpSp>
        <p:nvGrpSpPr>
          <p:cNvPr id="40" name="그룹 39"/>
          <p:cNvGrpSpPr/>
          <p:nvPr/>
        </p:nvGrpSpPr>
        <p:grpSpPr>
          <a:xfrm rot="0">
            <a:off x="7349924" y="1490454"/>
            <a:ext cx="4314390" cy="400110"/>
            <a:chOff x="1202264" y="614132"/>
            <a:chExt cx="4314390" cy="400110"/>
          </a:xfrm>
        </p:grpSpPr>
        <p:sp>
          <p:nvSpPr>
            <p:cNvPr id="41" name="타원 40"/>
            <p:cNvSpPr>
              <a:spLocks noChangeAspect="1"/>
            </p:cNvSpPr>
            <p:nvPr/>
          </p:nvSpPr>
          <p:spPr>
            <a:xfrm flipH="1">
              <a:off x="1202264" y="628842"/>
              <a:ext cx="360000" cy="3600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676389" y="614132"/>
              <a:ext cx="384026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Part 2. LNG</a:t>
              </a:r>
              <a:r>
                <a:rPr lang="ko-KR" altLang="en-US" sz="2000" b="1"/>
                <a:t> 수급 현황 및 특성</a:t>
              </a:r>
              <a:r>
                <a:rPr lang="en-US" altLang="ko-KR" sz="2000" b="1"/>
                <a:t> </a:t>
              </a:r>
              <a:endParaRPr lang="en-US" altLang="ko-KR" sz="2000" b="1"/>
            </a:p>
          </p:txBody>
        </p:sp>
      </p:grpSp>
      <p:grpSp>
        <p:nvGrpSpPr>
          <p:cNvPr id="43" name="그룹 42"/>
          <p:cNvGrpSpPr/>
          <p:nvPr/>
        </p:nvGrpSpPr>
        <p:grpSpPr>
          <a:xfrm rot="0">
            <a:off x="7349924" y="2708579"/>
            <a:ext cx="2590365" cy="400110"/>
            <a:chOff x="1202264" y="901005"/>
            <a:chExt cx="2590365" cy="400110"/>
          </a:xfrm>
        </p:grpSpPr>
        <p:sp>
          <p:nvSpPr>
            <p:cNvPr id="44" name="타원 43"/>
            <p:cNvSpPr>
              <a:spLocks noChangeAspect="1"/>
            </p:cNvSpPr>
            <p:nvPr/>
          </p:nvSpPr>
          <p:spPr>
            <a:xfrm flipH="1">
              <a:off x="1202264" y="915715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accent1"/>
                  </a:solidFill>
                </a:ln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676397" y="901005"/>
              <a:ext cx="211623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Part 4. </a:t>
              </a:r>
              <a:r>
                <a:rPr lang="ko-KR" altLang="en-US" sz="2000" b="1"/>
                <a:t>제안사항</a:t>
              </a:r>
              <a:endParaRPr lang="ko-KR" altLang="en-US" sz="2000" b="1"/>
            </a:p>
          </p:txBody>
        </p:sp>
      </p:grpSp>
      <p:grpSp>
        <p:nvGrpSpPr>
          <p:cNvPr id="46" name="그룹 45"/>
          <p:cNvGrpSpPr/>
          <p:nvPr/>
        </p:nvGrpSpPr>
        <p:grpSpPr>
          <a:xfrm rot="0">
            <a:off x="7349924" y="3926704"/>
            <a:ext cx="1285441" cy="400110"/>
            <a:chOff x="1202264" y="901005"/>
            <a:chExt cx="1285441" cy="400110"/>
          </a:xfrm>
        </p:grpSpPr>
        <p:sp>
          <p:nvSpPr>
            <p:cNvPr id="47" name="타원 46"/>
            <p:cNvSpPr>
              <a:spLocks noChangeAspect="1"/>
            </p:cNvSpPr>
            <p:nvPr/>
          </p:nvSpPr>
          <p:spPr>
            <a:xfrm flipH="1">
              <a:off x="1202264" y="915715"/>
              <a:ext cx="360000" cy="3600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676400" y="901005"/>
              <a:ext cx="811305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Q&amp;A</a:t>
              </a:r>
              <a:endParaRPr lang="en-US" altLang="ko-KR" sz="2000" b="1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ECB1163-5A62-EAB0-9B6D-A07845CA2364}"/>
              </a:ext>
            </a:extLst>
          </p:cNvPr>
          <p:cNvSpPr txBox="1"/>
          <p:nvPr/>
        </p:nvSpPr>
        <p:spPr>
          <a:xfrm>
            <a:off x="652656" y="55552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목차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D58EEA-122A-1AB6-B52C-F4E28D0C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2</a:t>
            </a:fld>
            <a:endParaRPr lang="ko-KR" altLang="en-US" dirty="0"/>
          </a:p>
        </p:txBody>
      </p:sp>
      <p:grpSp>
        <p:nvGrpSpPr>
          <p:cNvPr id="57" name="그룹 56"/>
          <p:cNvGrpSpPr/>
          <p:nvPr/>
        </p:nvGrpSpPr>
        <p:grpSpPr>
          <a:xfrm rot="0">
            <a:off x="1398386" y="1543778"/>
            <a:ext cx="4303278" cy="404449"/>
            <a:chOff x="1202264" y="915715"/>
            <a:chExt cx="4303278" cy="404449"/>
          </a:xfrm>
          <a:solidFill>
            <a:schemeClr val="lt1"/>
          </a:solidFill>
        </p:grpSpPr>
        <p:sp>
          <p:nvSpPr>
            <p:cNvPr id="58" name="타원 43"/>
            <p:cNvSpPr>
              <a:spLocks noChangeAspect="1"/>
            </p:cNvSpPr>
            <p:nvPr/>
          </p:nvSpPr>
          <p:spPr>
            <a:xfrm flipH="1">
              <a:off x="1202264" y="915715"/>
              <a:ext cx="360000" cy="36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ln w="9525">
                  <a:solidFill>
                    <a:schemeClr val="accent1"/>
                  </a:solidFill>
                </a:ln>
                <a:solidFill>
                  <a:schemeClr val="accent1"/>
                </a:solidFill>
              </a:endParaRPr>
            </a:p>
          </p:txBody>
        </p:sp>
        <p:sp>
          <p:nvSpPr>
            <p:cNvPr id="59" name="TextBox 44"/>
            <p:cNvSpPr txBox="1"/>
            <p:nvPr/>
          </p:nvSpPr>
          <p:spPr>
            <a:xfrm>
              <a:off x="1676399" y="920054"/>
              <a:ext cx="382914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2000" b="1"/>
                <a:t>Part 1. LNG </a:t>
              </a:r>
              <a:r>
                <a:rPr lang="ko-KR" altLang="en-US" sz="2000" b="1"/>
                <a:t>수급관리의 중요성</a:t>
              </a:r>
              <a:endParaRPr lang="ko-KR" alt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147411927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520" y="352697"/>
            <a:ext cx="4548795" cy="44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+mj-ea"/>
                <a:ea typeface="+mj-ea"/>
              </a:rPr>
              <a:t>Part 1. </a:t>
            </a:r>
            <a:r>
              <a:rPr lang="en-US" altLang="ko-KR" sz="2400" b="1"/>
              <a:t>LNG </a:t>
            </a:r>
            <a:r>
              <a:rPr lang="ko-KR" altLang="en-US" sz="2400" b="1"/>
              <a:t>수급관리의 중요성</a:t>
            </a:r>
            <a:endParaRPr lang="ko-KR" altLang="en-US" sz="2400" b="1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6" name="타원 5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타원 8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타원 10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3" name="타원 12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4" name="타원 13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6" name="타원 15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8" name="타원 17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9" name="타원 18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cxnSp>
        <p:nvCxnSpPr>
          <p:cNvPr id="2" name="직선 연결선 1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B44A4D2-08DD-2C7F-672B-E2FB965D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371943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519" y="352697"/>
            <a:ext cx="1281721" cy="44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+mj-ea"/>
                <a:ea typeface="+mj-ea"/>
              </a:rPr>
              <a:t>Part 2. </a:t>
            </a:r>
            <a:endParaRPr lang="ko-KR" altLang="en-US" sz="2400" b="1">
              <a:latin typeface="+mj-ea"/>
              <a:ea typeface="+mj-ea"/>
            </a:endParaRPr>
          </a:p>
        </p:txBody>
      </p:sp>
      <p:grpSp>
        <p:nvGrpSpPr>
          <p:cNvPr id="11" name="그룹 10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17" name="타원 16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타원 19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3" name="타원 22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4" name="타원 23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타원 4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8" name="타원 7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타원 8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231E7FD-6DB3-9B64-40C3-11788A260BCA}"/>
              </a:ext>
            </a:extLst>
          </p:cNvPr>
          <p:cNvGrpSpPr/>
          <p:nvPr/>
        </p:nvGrpSpPr>
        <p:grpSpPr>
          <a:xfrm>
            <a:off x="926054" y="1927916"/>
            <a:ext cx="10339891" cy="3531543"/>
            <a:chOff x="947335" y="2195967"/>
            <a:chExt cx="10339891" cy="3531543"/>
          </a:xfrm>
        </p:grpSpPr>
        <p:pic>
          <p:nvPicPr>
            <p:cNvPr id="27" name="그래픽 26" descr="열린 인용 부호">
              <a:extLst>
                <a:ext uri="{FF2B5EF4-FFF2-40B4-BE49-F238E27FC236}">
                  <a16:creationId xmlns:a16="http://schemas.microsoft.com/office/drawing/2014/main" id="{9B0495AF-938F-B78C-8F77-12F72E31C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7335" y="2195967"/>
              <a:ext cx="540000" cy="540000"/>
            </a:xfrm>
            <a:prstGeom prst="rect">
              <a:avLst/>
            </a:prstGeom>
          </p:spPr>
        </p:pic>
        <p:pic>
          <p:nvPicPr>
            <p:cNvPr id="29" name="그래픽 28" descr="닫는 인용 부호">
              <a:extLst>
                <a:ext uri="{FF2B5EF4-FFF2-40B4-BE49-F238E27FC236}">
                  <a16:creationId xmlns:a16="http://schemas.microsoft.com/office/drawing/2014/main" id="{140C6B54-0BDE-16CA-6337-28989D977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47226" y="5187510"/>
              <a:ext cx="540000" cy="540000"/>
            </a:xfrm>
            <a:prstGeom prst="rect">
              <a:avLst/>
            </a:prstGeom>
          </p:spPr>
        </p:pic>
      </p:grpSp>
      <p:cxnSp>
        <p:nvCxnSpPr>
          <p:cNvPr id="3" name="직선 연결선 2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C456E3B-852B-60EA-731F-CA39E3F1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571759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519" y="352697"/>
            <a:ext cx="1167421" cy="44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+mj-ea"/>
                <a:ea typeface="+mj-ea"/>
              </a:rPr>
              <a:t>Part 3.</a:t>
            </a:r>
            <a:endParaRPr lang="ko-KR" altLang="en-US" sz="2400" b="1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6" name="타원 5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8" name="타원 7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타원 8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0" name="타원 9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타원 10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2" name="타원 11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3" name="타원 12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4" name="타원 13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cxnSp>
        <p:nvCxnSpPr>
          <p:cNvPr id="2" name="직선 연결선 1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96FAEB-3E7C-7749-0A15-95071921DE54}"/>
              </a:ext>
            </a:extLst>
          </p:cNvPr>
          <p:cNvSpPr txBox="1"/>
          <p:nvPr/>
        </p:nvSpPr>
        <p:spPr>
          <a:xfrm>
            <a:off x="533411" y="1122412"/>
            <a:ext cx="594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미세공진기</a:t>
            </a:r>
            <a:r>
              <a:rPr lang="ko-KR" altLang="en-US" sz="2000" b="1" dirty="0"/>
              <a:t> 설계</a:t>
            </a:r>
            <a:endParaRPr lang="en-US" altLang="ko-KR" sz="2000" b="1" dirty="0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666B2604-BAF2-1282-AF7E-9C704F97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647844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520" y="352697"/>
            <a:ext cx="1281720" cy="44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+mj-ea"/>
                <a:ea typeface="+mj-ea"/>
              </a:rPr>
              <a:t>Part 4. </a:t>
            </a:r>
            <a:endParaRPr lang="ko-KR" altLang="en-US" sz="2400" b="1">
              <a:latin typeface="+mj-ea"/>
              <a:ea typeface="+mj-ea"/>
            </a:endParaRPr>
          </a:p>
        </p:txBody>
      </p:sp>
      <p:grpSp>
        <p:nvGrpSpPr>
          <p:cNvPr id="21" name="그룹 20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22" name="타원 21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타원 24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6" name="타원 25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7" name="타원 26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9" name="타원 28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0" name="타원 29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1" name="타원 30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cxnSp>
        <p:nvCxnSpPr>
          <p:cNvPr id="3" name="직선 연결선 2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45A923-EF88-06EE-7F05-6156B690FF91}"/>
              </a:ext>
            </a:extLst>
          </p:cNvPr>
          <p:cNvSpPr txBox="1"/>
          <p:nvPr/>
        </p:nvSpPr>
        <p:spPr>
          <a:xfrm>
            <a:off x="533411" y="1122412"/>
            <a:ext cx="324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제작 </a:t>
            </a:r>
            <a:r>
              <a:rPr lang="en-US" altLang="ko-KR" sz="2000" b="1" dirty="0"/>
              <a:t>PDMS </a:t>
            </a:r>
            <a:r>
              <a:rPr lang="ko-KR" altLang="en-US" sz="2000" b="1" dirty="0"/>
              <a:t>반사판 두께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B8905D-C64D-79B5-A814-7DBBAC8E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4502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520" y="352697"/>
            <a:ext cx="1281720" cy="445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+mj-ea"/>
                <a:ea typeface="+mj-ea"/>
              </a:rPr>
              <a:t>Part 5. </a:t>
            </a:r>
            <a:endParaRPr lang="ko-KR" altLang="en-US" sz="2400" b="1">
              <a:latin typeface="+mj-ea"/>
              <a:ea typeface="+mj-ea"/>
            </a:endParaRPr>
          </a:p>
        </p:txBody>
      </p:sp>
      <p:grpSp>
        <p:nvGrpSpPr>
          <p:cNvPr id="11" name="그룹 10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17" name="타원 16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타원 19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3" name="타원 22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4" name="타원 23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타원 4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" name="타원 5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8" name="타원 7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타원 8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cxnSp>
        <p:nvCxnSpPr>
          <p:cNvPr id="3" name="직선 연결선 2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4CBFFB-3630-63C4-F864-372BD492AC92}"/>
              </a:ext>
            </a:extLst>
          </p:cNvPr>
          <p:cNvSpPr/>
          <p:nvPr/>
        </p:nvSpPr>
        <p:spPr>
          <a:xfrm>
            <a:off x="4404997" y="2401657"/>
            <a:ext cx="79785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FA77E181-ACA5-E5F2-BF41-657B39DD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5426267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917235-073B-1358-7031-9CF6D665C81E}"/>
              </a:ext>
            </a:extLst>
          </p:cNvPr>
          <p:cNvSpPr txBox="1"/>
          <p:nvPr/>
        </p:nvSpPr>
        <p:spPr>
          <a:xfrm>
            <a:off x="257520" y="352697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참고 문헌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336000" y="915289"/>
            <a:ext cx="1152000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rot="0">
            <a:off x="10976647" y="454456"/>
            <a:ext cx="806360" cy="380318"/>
            <a:chOff x="10976647" y="454456"/>
            <a:chExt cx="806360" cy="380318"/>
          </a:xfrm>
        </p:grpSpPr>
        <p:sp>
          <p:nvSpPr>
            <p:cNvPr id="7" name="타원 6"/>
            <p:cNvSpPr>
              <a:spLocks noChangeAspect="1"/>
            </p:cNvSpPr>
            <p:nvPr/>
          </p:nvSpPr>
          <p:spPr>
            <a:xfrm flipH="1">
              <a:off x="1161672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3" name="타원 12"/>
            <p:cNvSpPr>
              <a:spLocks noChangeAspect="1"/>
            </p:cNvSpPr>
            <p:nvPr/>
          </p:nvSpPr>
          <p:spPr>
            <a:xfrm flipH="1">
              <a:off x="11403367" y="454456"/>
              <a:ext cx="166280" cy="165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4" name="타원 13"/>
            <p:cNvSpPr>
              <a:spLocks noChangeAspect="1"/>
            </p:cNvSpPr>
            <p:nvPr/>
          </p:nvSpPr>
          <p:spPr>
            <a:xfrm flipH="1">
              <a:off x="1119000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6" name="타원 15"/>
            <p:cNvSpPr>
              <a:spLocks noChangeAspect="1"/>
            </p:cNvSpPr>
            <p:nvPr/>
          </p:nvSpPr>
          <p:spPr>
            <a:xfrm flipH="1">
              <a:off x="10976647" y="454456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8" name="타원 17"/>
            <p:cNvSpPr>
              <a:spLocks noChangeAspect="1"/>
            </p:cNvSpPr>
            <p:nvPr/>
          </p:nvSpPr>
          <p:spPr>
            <a:xfrm flipH="1">
              <a:off x="1161672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9" name="타원 18"/>
            <p:cNvSpPr>
              <a:spLocks noChangeAspect="1"/>
            </p:cNvSpPr>
            <p:nvPr/>
          </p:nvSpPr>
          <p:spPr>
            <a:xfrm flipH="1">
              <a:off x="11403367" y="669174"/>
              <a:ext cx="166280" cy="165600"/>
            </a:xfrm>
            <a:prstGeom prst="ellipse">
              <a:avLst/>
            </a:prstGeom>
            <a:solidFill>
              <a:srgbClr val="e6e8e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2" name="타원 21"/>
            <p:cNvSpPr>
              <a:spLocks noChangeAspect="1"/>
            </p:cNvSpPr>
            <p:nvPr/>
          </p:nvSpPr>
          <p:spPr>
            <a:xfrm flipH="1">
              <a:off x="11190007" y="669174"/>
              <a:ext cx="166280" cy="16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>
            <a:xfrm flipH="1">
              <a:off x="10976647" y="669174"/>
              <a:ext cx="166280" cy="165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38CA8D-57CE-42BB-8DB7-ACB3C327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12488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4964" y="2211854"/>
            <a:ext cx="3257622" cy="1920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20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Q&amp;A</a:t>
            </a:r>
            <a:endParaRPr lang="ko-KR" altLang="en-US" sz="12000" b="1">
              <a:solidFill>
                <a:schemeClr val="accent1"/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768113-1405-20B5-C8ED-F2F336E8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38927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472" y="2921169"/>
            <a:ext cx="4237057" cy="1001226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ko-KR" altLang="en-US" sz="6000" b="1">
                <a:solidFill>
                  <a:schemeClr val="accent1"/>
                </a:solidFill>
                <a:latin typeface="Calibri"/>
                <a:ea typeface="+mj-ea"/>
                <a:cs typeface="Calibri"/>
              </a:rPr>
              <a:t>감사합니다</a:t>
            </a:r>
            <a:r>
              <a:rPr lang="en-US" altLang="ko-KR" sz="6000" b="1">
                <a:solidFill>
                  <a:schemeClr val="accent1"/>
                </a:solidFill>
                <a:latin typeface="Calibri"/>
                <a:ea typeface="+mj-ea"/>
                <a:cs typeface="Calibri"/>
              </a:rPr>
              <a:t>.</a:t>
            </a:r>
            <a:endParaRPr lang="ko-KR" altLang="en-US" sz="6000" b="1">
              <a:solidFill>
                <a:schemeClr val="accent1"/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768113-1405-20B5-C8ED-F2F336E8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FED-E9E2-4A0F-8C84-1DF9B67633F7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77372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79</ep:Words>
  <ep:PresentationFormat>와이드스크린</ep:PresentationFormat>
  <ep:Paragraphs>34</ep:Paragraphs>
  <ep:Slides>10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2022-05-24T05:24:49.000</dcterms:created>
  <dc:creator>조경은[ 직원 / 학술정보인프라부 ]</dc:creator>
  <cp:lastModifiedBy>강혜성</cp:lastModifiedBy>
  <dcterms:modified xsi:type="dcterms:W3CDTF">2025-12-01T07:36:07.504</dcterms:modified>
  <cp:revision>266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